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7" r:id="rId8"/>
    <p:sldId id="264" r:id="rId9"/>
    <p:sldId id="265" r:id="rId10"/>
    <p:sldId id="266" r:id="rId11"/>
    <p:sldId id="268" r:id="rId12"/>
    <p:sldId id="262" r:id="rId13"/>
    <p:sldId id="270" r:id="rId14"/>
    <p:sldId id="269" r:id="rId15"/>
    <p:sldId id="271" r:id="rId16"/>
    <p:sldId id="273" r:id="rId17"/>
    <p:sldId id="272" r:id="rId18"/>
    <p:sldId id="275" r:id="rId19"/>
    <p:sldId id="274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F98D3-451C-7AA1-E07C-DF4F3863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0D83128-91B1-96E7-CA34-AC8BB258C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49B18-A977-9CA5-2816-6BAC0570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B1F6EF-49A1-DA14-231D-BAA724679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8F15CB-9C1B-A34A-A38B-9EA263BE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060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7D0E9E-15AC-09E6-AFB3-1F315E9E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8DD37C-19EC-A060-257A-31B83EDCF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43D206-6979-700D-C033-8AB87300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7E5F3D-F349-9E24-10E4-7AEBD15E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2749F1-5AB8-82A3-F85C-5EB984B0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982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9122E5-9340-83F0-EE16-96BDDD1F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3E635A-CDC1-E34C-7928-87E3D8105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4A70DF-29D1-3CC8-1B95-666592580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7BB55D-C1E7-0772-B0BA-74249D5A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EA91AA-D129-67B9-8DE5-A0364093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181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238C4B-6017-A7FF-68EC-4BFE0568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9F3A0F-74E3-F373-89B4-F2806B6FB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48370D-3B8C-18F2-BC2F-CABB22386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2DA93A-3DFA-AD1D-AD6E-9BC66DC3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56B248-5E38-CB78-8E4E-EEAA2514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0FABA7-EC5C-A349-57E6-CE866762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817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D4FEFB-381C-C989-585F-3F3C40B6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234394-F37B-97B9-530C-B6DE92EC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94FAA9-22B4-27B9-2C81-3FC8E50E4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9BD826-0E29-B501-C50E-1DE25A835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ABCA375-D927-069C-0830-CE423BE60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AD4F91A-D41D-38A3-7821-EA9849C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48333BC-0883-3647-D56F-F4893851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DBD92A8-D172-D88C-5C25-BFD6DD6B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99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BC5A87-6364-5C78-CEFE-683D27A2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137ACBC-2BAF-270E-4811-BB06CBF7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FEE243-EBAE-B6C6-4E92-E2436E91E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C16E63C-22F9-545B-B836-A02B0C76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275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9BD933B-3CAE-5CEF-6D3B-EA05F579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E9F6DB-1C86-4768-F960-1C1AEC97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8753AB-5702-2CD2-A123-ED4802F8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35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7A8DF3-B686-685E-C258-C315680E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F0A135-F5E8-89BA-38B9-B0D38E726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4A49ABA-5020-5080-29BA-A754EE698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C9447E6-D6D5-0454-9937-5C7EFEEB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D7F526-E894-6032-C492-122B24F0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894F5A-102C-8672-4B0D-DFB98698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03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0300B7-5C67-7DE2-941B-A2C26F695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BD20AB-5668-8A2E-B5C9-4528BDD07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3A45E1-C5FE-375A-B20E-D06ABD76B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2C2771D-A465-0396-C35C-A49B9E7C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70DD93-0E88-25CF-A436-F4EFDFD9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84DC33C-D28F-1D84-BEC6-6E6CD40F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710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D8B2F8-266C-DBD1-DAE8-66D1BEB6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40C092B-A55D-DF5A-BDA6-A4179D1F6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9BD067-762C-C921-C744-8ED111FE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0B9F8A-62B9-FA42-7812-A7874B70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B984CF-E826-5E9C-3656-A05BDA3E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816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1740593-AD8C-D6AB-3C2E-19F9D5AA4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47DFA23-2656-08DD-3F90-A27D0A1BA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A285A1-42C6-F620-1126-20976661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58010F-CB61-9992-F75E-727270F3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57F092-A921-9124-7FAA-71F0694B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714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F80A346-37AC-0B30-9172-1F67224E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E9E384-33AC-9E7B-B5E3-6A91BF813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D106EE-9C75-F61F-25FD-C3A206031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782F5-C9E4-4DE4-BA12-6D779CE128AF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52119F-3D41-A10F-0757-6B62B22D1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2AE762-0D8A-9B09-8F7D-DEADA3CFB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26574-4185-442A-85F5-035FDCE633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2225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testo, Carattere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1F17A170-1783-66DC-DF44-FC49D9BA3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2" y="809726"/>
            <a:ext cx="2678738" cy="87159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F0C10E7-EAF7-F881-4A9E-DA76DB626C3B}"/>
              </a:ext>
            </a:extLst>
          </p:cNvPr>
          <p:cNvSpPr txBox="1"/>
          <p:nvPr/>
        </p:nvSpPr>
        <p:spPr>
          <a:xfrm>
            <a:off x="9200724" y="394463"/>
            <a:ext cx="2165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dirty="0"/>
            </a:br>
            <a:endParaRPr lang="it-IT" dirty="0">
              <a:effectLst/>
            </a:endParaRPr>
          </a:p>
          <a:p>
            <a:r>
              <a:rPr lang="it-IT" dirty="0"/>
              <a:t>Dipartimento di Ingegneria</a:t>
            </a:r>
          </a:p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E3B8EE3-127F-1820-95BF-9AFEC126B198}"/>
              </a:ext>
            </a:extLst>
          </p:cNvPr>
          <p:cNvSpPr txBox="1"/>
          <p:nvPr/>
        </p:nvSpPr>
        <p:spPr>
          <a:xfrm>
            <a:off x="1827751" y="2549095"/>
            <a:ext cx="853649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 </a:t>
            </a:r>
            <a:endParaRPr lang="it-IT" dirty="0"/>
          </a:p>
          <a:p>
            <a:r>
              <a:rPr lang="it-IT" sz="2800" dirty="0"/>
              <a:t>Analisi dei software di gestione degli aiuti alla guida su veicoli da competizione ad alte prestazioni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24" name="Casella di testo 2">
            <a:extLst>
              <a:ext uri="{FF2B5EF4-FFF2-40B4-BE49-F238E27FC236}">
                <a16:creationId xmlns:a16="http://schemas.microsoft.com/office/drawing/2014/main" id="{529A2A82-5576-46AF-0BEA-2674C0A7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140" y="5309542"/>
            <a:ext cx="1673885" cy="738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it-IT" sz="1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Candidato</a:t>
            </a:r>
            <a:endParaRPr lang="it-IT" sz="11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300" b="1" kern="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Antonio D’Angiolella</a:t>
            </a:r>
          </a:p>
          <a:p>
            <a:pPr>
              <a:buNone/>
            </a:pPr>
            <a:r>
              <a:rPr lang="it-IT" sz="1300" b="1" kern="0" dirty="0" err="1">
                <a:effectLst/>
                <a:latin typeface="Garamond" panose="02020404030301010803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Mat</a:t>
            </a:r>
            <a:r>
              <a:rPr lang="it-IT" sz="1300" b="1" kern="0" dirty="0">
                <a:latin typeface="Garamond" panose="02020404030301010803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. A13001849</a:t>
            </a:r>
            <a:endParaRPr lang="it-IT" sz="1300" b="1" kern="0" dirty="0">
              <a:effectLst/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>
              <a:buNone/>
            </a:pPr>
            <a:r>
              <a:rPr lang="it-IT" sz="11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 </a:t>
            </a:r>
            <a:endParaRPr lang="it-IT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Casella di testo 2">
            <a:extLst>
              <a:ext uri="{FF2B5EF4-FFF2-40B4-BE49-F238E27FC236}">
                <a16:creationId xmlns:a16="http://schemas.microsoft.com/office/drawing/2014/main" id="{2B54BFF6-EA34-76EA-E61C-6CBE8CC4E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530" y="5309542"/>
            <a:ext cx="1424940" cy="57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it-IT" sz="1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Relatore</a:t>
            </a:r>
            <a:endParaRPr lang="it-IT" sz="11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300" b="1" kern="0" dirty="0">
                <a:effectLst/>
                <a:latin typeface="Garamond" panose="02020404030301010803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Prof. Antonio Esposito</a:t>
            </a:r>
          </a:p>
        </p:txBody>
      </p:sp>
      <p:sp>
        <p:nvSpPr>
          <p:cNvPr id="26" name="Casella di testo 2">
            <a:extLst>
              <a:ext uri="{FF2B5EF4-FFF2-40B4-BE49-F238E27FC236}">
                <a16:creationId xmlns:a16="http://schemas.microsoft.com/office/drawing/2014/main" id="{A4DC78C8-D1C1-8F1F-58EA-E8D34B715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2974" y="5473168"/>
            <a:ext cx="890831" cy="41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it-IT" sz="12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A.A.</a:t>
            </a:r>
          </a:p>
          <a:p>
            <a:pPr>
              <a:buNone/>
            </a:pPr>
            <a:r>
              <a:rPr lang="it-IT" sz="12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2024/25</a:t>
            </a:r>
          </a:p>
        </p:txBody>
      </p:sp>
    </p:spTree>
    <p:extLst>
      <p:ext uri="{BB962C8B-B14F-4D97-AF65-F5344CB8AC3E}">
        <p14:creationId xmlns:p14="http://schemas.microsoft.com/office/powerpoint/2010/main" val="3487961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EE91E17-8973-C74C-451A-17A80BD477A6}"/>
              </a:ext>
            </a:extLst>
          </p:cNvPr>
          <p:cNvSpPr txBox="1"/>
          <p:nvPr/>
        </p:nvSpPr>
        <p:spPr>
          <a:xfrm>
            <a:off x="1229032" y="1160206"/>
            <a:ext cx="96552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L’elaborato è diviso in 5 parti</a:t>
            </a:r>
          </a:p>
          <a:p>
            <a:br>
              <a:rPr lang="it-IT" sz="3600" dirty="0"/>
            </a:br>
            <a:r>
              <a:rPr lang="it-IT" sz="3600" dirty="0"/>
              <a:t>1. Definizione di aiuto alla guida</a:t>
            </a:r>
          </a:p>
          <a:p>
            <a:r>
              <a:rPr lang="it-IT" sz="3600" dirty="0"/>
              <a:t>2. Modellazione del problema</a:t>
            </a:r>
          </a:p>
          <a:p>
            <a:r>
              <a:rPr lang="it-IT" sz="3600" dirty="0"/>
              <a:t>3. Progettazione e implementazione del sistema</a:t>
            </a:r>
          </a:p>
          <a:p>
            <a:r>
              <a:rPr lang="it-IT" sz="3600" dirty="0"/>
              <a:t>4. Simulazione delle logiche del sistema </a:t>
            </a:r>
          </a:p>
          <a:p>
            <a:r>
              <a:rPr lang="it-IT" sz="3600" dirty="0"/>
              <a:t>5. Sviluppi futuri e possibili migliorie</a:t>
            </a:r>
          </a:p>
        </p:txBody>
      </p:sp>
    </p:spTree>
    <p:extLst>
      <p:ext uri="{BB962C8B-B14F-4D97-AF65-F5344CB8AC3E}">
        <p14:creationId xmlns:p14="http://schemas.microsoft.com/office/powerpoint/2010/main" val="53910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AEC79EC-FBCA-D0FC-5614-6801D9C234DD}"/>
              </a:ext>
            </a:extLst>
          </p:cNvPr>
          <p:cNvSpPr txBox="1"/>
          <p:nvPr/>
        </p:nvSpPr>
        <p:spPr>
          <a:xfrm>
            <a:off x="648929" y="774682"/>
            <a:ext cx="1089414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ADAS (Advanced Driver Assistance Systems)</a:t>
            </a:r>
          </a:p>
          <a:p>
            <a:r>
              <a:rPr lang="it-IT" sz="20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che aiuta a ridurre i </a:t>
            </a:r>
            <a:r>
              <a:rPr lang="it-IT" sz="2000" spc="-1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rischi sia per i conducenti che per gli utenti deboli della strada (pedoni, ciclisti)</a:t>
            </a:r>
            <a:endParaRPr lang="it-IT" sz="2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F2FC50-062F-FC03-AE0C-D7AE650C23F2}"/>
              </a:ext>
            </a:extLst>
          </p:cNvPr>
          <p:cNvSpPr txBox="1"/>
          <p:nvPr/>
        </p:nvSpPr>
        <p:spPr>
          <a:xfrm>
            <a:off x="552425" y="2946652"/>
            <a:ext cx="5425588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it-IT" sz="2000" dirty="0"/>
              <a:t>Sicurezza </a:t>
            </a:r>
          </a:p>
          <a:p>
            <a:pPr marL="342900" indent="-342900">
              <a:buAutoNum type="arabicPeriod"/>
            </a:pPr>
            <a:endParaRPr lang="it-IT" sz="2000" dirty="0"/>
          </a:p>
          <a:p>
            <a:pPr marL="342900" indent="-342900">
              <a:buAutoNum type="arabicPeriod"/>
            </a:pPr>
            <a:r>
              <a:rPr lang="it-IT" sz="2000" dirty="0"/>
              <a:t>Utilizzo di una grande quantità di dati</a:t>
            </a:r>
          </a:p>
          <a:p>
            <a:pPr marL="342900" indent="-342900">
              <a:buAutoNum type="arabicPeriod"/>
            </a:pPr>
            <a:endParaRPr lang="it-IT" sz="2000" dirty="0"/>
          </a:p>
          <a:p>
            <a:pPr marL="342900" indent="-342900">
              <a:buAutoNum type="arabicPeriod"/>
            </a:pPr>
            <a:r>
              <a:rPr lang="it-IT" sz="2000" dirty="0"/>
              <a:t>Tempi di risposta nell’ordine dei millisecondi</a:t>
            </a:r>
          </a:p>
          <a:p>
            <a:pPr marL="342900" indent="-342900">
              <a:buAutoNum type="arabicPeriod"/>
            </a:pPr>
            <a:endParaRPr lang="it-IT" sz="2000" dirty="0"/>
          </a:p>
          <a:p>
            <a:pPr marL="342900" indent="-342900">
              <a:buAutoNum type="arabicPeriod"/>
            </a:pPr>
            <a:r>
              <a:rPr lang="it-IT" sz="2000" dirty="0"/>
              <a:t>Intervento attivo  </a:t>
            </a:r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034EB99-1FA9-AA62-F1F1-EF53461C7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61794"/>
            <a:ext cx="5425588" cy="276225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0D77A1-8E2F-A359-865F-F911D6EF149A}"/>
              </a:ext>
            </a:extLst>
          </p:cNvPr>
          <p:cNvSpPr txBox="1"/>
          <p:nvPr/>
        </p:nvSpPr>
        <p:spPr>
          <a:xfrm>
            <a:off x="7643671" y="5747419"/>
            <a:ext cx="2330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questa trattazione analizzeremo aiuti a livello 2.</a:t>
            </a:r>
          </a:p>
        </p:txBody>
      </p:sp>
    </p:spTree>
    <p:extLst>
      <p:ext uri="{BB962C8B-B14F-4D97-AF65-F5344CB8AC3E}">
        <p14:creationId xmlns:p14="http://schemas.microsoft.com/office/powerpoint/2010/main" val="84450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65D4FD-8C04-5ADF-D730-1CD8A30205F3}"/>
              </a:ext>
            </a:extLst>
          </p:cNvPr>
          <p:cNvSpPr txBox="1"/>
          <p:nvPr/>
        </p:nvSpPr>
        <p:spPr>
          <a:xfrm>
            <a:off x="678426" y="1117713"/>
            <a:ext cx="10835148" cy="420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ACC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Adaptive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Cruise Control: mantiene la velocità impostata regolando automaticamente la distanza dal veicolo davanti.</a:t>
            </a:r>
            <a:b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</a:b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AEB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Automatic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Emergency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Braking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: frena autonomamente in caso di rischio collisione.</a:t>
            </a:r>
            <a:b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</a:b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LKA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Lane Keeping Assist: corregge lo sterzo per mantenere l’auto in corsia.</a:t>
            </a:r>
            <a:b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</a:b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LDW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Lane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Departure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Warning: avvisa se il veicolo supera la linea di corsia senza freccia.</a:t>
            </a:r>
            <a:b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</a:b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BSD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Blind Spot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Detection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: segnala la presenza di veicoli nell’angolo cieco.</a:t>
            </a:r>
            <a:endParaRPr lang="it-IT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RCTA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Rear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Cross Traffic Alert: avvisa di traffico trasversale in retromarcia.</a:t>
            </a:r>
            <a:b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</a:b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TSR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Traffic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Sign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</a:t>
            </a:r>
            <a:r>
              <a:rPr lang="it-IT" sz="1800" spc="-10" dirty="0" err="1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Recognition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: riconosce e mostra i segnali stradali.</a:t>
            </a:r>
            <a:endParaRPr lang="it-IT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DM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Driver Monitoring: rileva distrazione o stanchezza del conducente.</a:t>
            </a:r>
            <a:endParaRPr lang="it-IT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it-IT" sz="1800" b="1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PA</a:t>
            </a:r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– Parking Assist: aiuta nelle manovre di parcheggio, fino a gestirle autonomamente. </a:t>
            </a:r>
            <a:endParaRPr lang="it-IT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65FF204-5E4F-1CC0-4900-D2C9F394AD12}"/>
              </a:ext>
            </a:extLst>
          </p:cNvPr>
          <p:cNvSpPr txBox="1"/>
          <p:nvPr/>
        </p:nvSpPr>
        <p:spPr>
          <a:xfrm>
            <a:off x="678426" y="654102"/>
            <a:ext cx="10595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Alcuni aiuti di cui sicuramente avrete sentito parlare...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955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A89A3C-B33C-0ABD-7158-E8B0B530DD56}"/>
              </a:ext>
            </a:extLst>
          </p:cNvPr>
          <p:cNvSpPr txBox="1"/>
          <p:nvPr/>
        </p:nvSpPr>
        <p:spPr>
          <a:xfrm>
            <a:off x="899490" y="654102"/>
            <a:ext cx="105951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Tutti questi aiuti per auto da corsa non servono!</a:t>
            </a:r>
            <a:br>
              <a:rPr lang="it-IT" sz="18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it-IT" sz="1800" spc="-10" dirty="0">
              <a:effectLst/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pc="-1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C’è una differenza negli obiettivi da perseguire in strada e in pista… </a:t>
            </a:r>
            <a:endParaRPr lang="it-IT" sz="1800" spc="-10" dirty="0">
              <a:effectLst/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24710266-1D63-3003-5E43-F4B04926E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39009"/>
              </p:ext>
            </p:extLst>
          </p:nvPr>
        </p:nvGraphicFramePr>
        <p:xfrm>
          <a:off x="899490" y="2451646"/>
          <a:ext cx="10595176" cy="19547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97588">
                  <a:extLst>
                    <a:ext uri="{9D8B030D-6E8A-4147-A177-3AD203B41FA5}">
                      <a16:colId xmlns:a16="http://schemas.microsoft.com/office/drawing/2014/main" val="3782916828"/>
                    </a:ext>
                  </a:extLst>
                </a:gridCol>
                <a:gridCol w="5297588">
                  <a:extLst>
                    <a:ext uri="{9D8B030D-6E8A-4147-A177-3AD203B41FA5}">
                      <a16:colId xmlns:a16="http://schemas.microsoft.com/office/drawing/2014/main" val="2438988882"/>
                    </a:ext>
                  </a:extLst>
                </a:gridCol>
              </a:tblGrid>
              <a:tr h="488677">
                <a:tc>
                  <a:txBody>
                    <a:bodyPr/>
                    <a:lstStyle/>
                    <a:p>
                      <a:r>
                        <a:rPr lang="it-IT" dirty="0"/>
                        <a:t>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165204"/>
                  </a:ext>
                </a:extLst>
              </a:tr>
              <a:tr h="488677">
                <a:tc>
                  <a:txBody>
                    <a:bodyPr/>
                    <a:lstStyle/>
                    <a:p>
                      <a:r>
                        <a:rPr lang="it-IT" dirty="0"/>
                        <a:t>1. Sicurezza per tutti gli utenti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 Sicurezza per piloti e steward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120127"/>
                  </a:ext>
                </a:extLst>
              </a:tr>
              <a:tr h="488677">
                <a:tc>
                  <a:txBody>
                    <a:bodyPr/>
                    <a:lstStyle/>
                    <a:p>
                      <a:r>
                        <a:rPr lang="it-IT" dirty="0"/>
                        <a:t>2. Comfort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 Limite del veicolo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772783"/>
                  </a:ext>
                </a:extLst>
              </a:tr>
              <a:tr h="488677">
                <a:tc>
                  <a:txBody>
                    <a:bodyPr/>
                    <a:lstStyle/>
                    <a:p>
                      <a:r>
                        <a:rPr lang="it-IT" dirty="0"/>
                        <a:t>3. Riduzione inquinamento atmosferico ed acustico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 Tempo sul giro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19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59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6861F6-974B-448F-DD6B-8CD872722188}"/>
              </a:ext>
            </a:extLst>
          </p:cNvPr>
          <p:cNvSpPr txBox="1"/>
          <p:nvPr/>
        </p:nvSpPr>
        <p:spPr>
          <a:xfrm>
            <a:off x="648929" y="774682"/>
            <a:ext cx="108941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 sono gli aiuti per le auto da corsa? </a:t>
            </a:r>
          </a:p>
          <a:p>
            <a:endParaRPr lang="it-IT" sz="2000" spc="-1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Dipende dal regolamento sportivo… Tra i più comuni abbiamo:</a:t>
            </a:r>
            <a:b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</a:br>
            <a:endParaRPr lang="it-IT" sz="2000" spc="-1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Traction control, Anti-lock </a:t>
            </a:r>
            <a:r>
              <a:rPr lang="it-IT" sz="2000" spc="-10" dirty="0" err="1">
                <a:latin typeface="Candara" panose="020E0502030303020204" pitchFamily="34" charset="0"/>
                <a:cs typeface="Times New Roman" panose="02020603050405020304" pitchFamily="18" charset="0"/>
              </a:rPr>
              <a:t>braking</a:t>
            </a:r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 system, </a:t>
            </a:r>
            <a:r>
              <a:rPr lang="it-IT" sz="2000" spc="-10" dirty="0" err="1">
                <a:latin typeface="Candara" panose="020E0502030303020204" pitchFamily="34" charset="0"/>
                <a:cs typeface="Times New Roman" panose="02020603050405020304" pitchFamily="18" charset="0"/>
              </a:rPr>
              <a:t>launch</a:t>
            </a:r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 control, pit </a:t>
            </a:r>
            <a:r>
              <a:rPr lang="it-IT" sz="2000" spc="-10" dirty="0" err="1">
                <a:latin typeface="Candara" panose="020E0502030303020204" pitchFamily="34" charset="0"/>
                <a:cs typeface="Times New Roman" panose="02020603050405020304" pitchFamily="18" charset="0"/>
              </a:rPr>
              <a:t>limiter</a:t>
            </a:r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it-IT" sz="2000" spc="-10" dirty="0" err="1">
                <a:latin typeface="Candara" panose="020E0502030303020204" pitchFamily="34" charset="0"/>
                <a:cs typeface="Times New Roman" panose="02020603050405020304" pitchFamily="18" charset="0"/>
              </a:rPr>
              <a:t>etc</a:t>
            </a:r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…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DF7529D-DDEE-8582-427F-E482DF0B8CA6}"/>
              </a:ext>
            </a:extLst>
          </p:cNvPr>
          <p:cNvSpPr txBox="1"/>
          <p:nvPr/>
        </p:nvSpPr>
        <p:spPr>
          <a:xfrm>
            <a:off x="648929" y="3429000"/>
            <a:ext cx="10894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spc="-1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quest</a:t>
            </a:r>
            <a:r>
              <a:rPr lang="it-IT" sz="2000" spc="-1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presentazione ci concentreremo sul TC e l’ABS. </a:t>
            </a:r>
          </a:p>
          <a:p>
            <a:endParaRPr lang="it-IT" sz="2000" spc="-10" dirty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000" spc="-10" dirty="0">
                <a:latin typeface="Candara" panose="020E0502030303020204" pitchFamily="34" charset="0"/>
                <a:cs typeface="Times New Roman" panose="02020603050405020304" pitchFamily="18" charset="0"/>
              </a:rPr>
              <a:t>Iniziamo con una descrizione qualitativa dei due fenomeni.</a:t>
            </a:r>
          </a:p>
        </p:txBody>
      </p:sp>
    </p:spTree>
    <p:extLst>
      <p:ext uri="{BB962C8B-B14F-4D97-AF65-F5344CB8AC3E}">
        <p14:creationId xmlns:p14="http://schemas.microsoft.com/office/powerpoint/2010/main" val="260280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8FE56D8-D5A7-6DD7-AF1D-14A6DE8FB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5" y="1097389"/>
            <a:ext cx="9944089" cy="466322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6A3A90-4D6B-F61F-FD8C-F3889125F73E}"/>
              </a:ext>
            </a:extLst>
          </p:cNvPr>
          <p:cNvSpPr txBox="1"/>
          <p:nvPr/>
        </p:nvSpPr>
        <p:spPr>
          <a:xfrm>
            <a:off x="2809682" y="229796"/>
            <a:ext cx="6572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>
                <a:latin typeface="Candara" panose="020E0502030303020204" pitchFamily="34" charset="0"/>
              </a:rPr>
              <a:t>Panoramica generale del sistema</a:t>
            </a:r>
          </a:p>
        </p:txBody>
      </p:sp>
    </p:spTree>
    <p:extLst>
      <p:ext uri="{BB962C8B-B14F-4D97-AF65-F5344CB8AC3E}">
        <p14:creationId xmlns:p14="http://schemas.microsoft.com/office/powerpoint/2010/main" val="373160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D8427FD-ECE6-65C3-3FF1-ED5952A68E19}"/>
              </a:ext>
            </a:extLst>
          </p:cNvPr>
          <p:cNvSpPr txBox="1"/>
          <p:nvPr/>
        </p:nvSpPr>
        <p:spPr>
          <a:xfrm>
            <a:off x="3967853" y="249460"/>
            <a:ext cx="4256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>
                <a:latin typeface="Candara" panose="020E0502030303020204" pitchFamily="34" charset="0"/>
              </a:rPr>
              <a:t>Dinamica del veicolo </a:t>
            </a:r>
          </a:p>
        </p:txBody>
      </p:sp>
      <p:pic>
        <p:nvPicPr>
          <p:cNvPr id="3" name="Immagine 2" descr="Immagine che contiene ruota, veicolo, Ricambio aut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93C1469C-DA76-0A35-27F5-84B02683C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87" y="1253292"/>
            <a:ext cx="10517021" cy="43514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EAD3A5B-7848-E589-384A-D119E0A4924D}"/>
                  </a:ext>
                </a:extLst>
              </p:cNvPr>
              <p:cNvSpPr txBox="1"/>
              <p:nvPr/>
            </p:nvSpPr>
            <p:spPr>
              <a:xfrm>
                <a:off x="3048836" y="5733064"/>
                <a:ext cx="6094324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𝑥𝑓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𝑎𝑒𝑟𝑜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𝑥𝑓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𝑥𝑟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𝑚𝑔𝑠𝑖𝑛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it-IT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EAD3A5B-7848-E589-384A-D119E0A49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836" y="5733064"/>
                <a:ext cx="6094324" cy="391582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956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B560737-4E40-41F4-A8FB-75F71EE24804}"/>
                  </a:ext>
                </a:extLst>
              </p:cNvPr>
              <p:cNvSpPr txBox="1"/>
              <p:nvPr/>
            </p:nvSpPr>
            <p:spPr>
              <a:xfrm>
                <a:off x="929929" y="356334"/>
                <a:ext cx="10332141" cy="4702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latin typeface="Candara" panose="020E0502030303020204" pitchFamily="34" charset="0"/>
                  </a:rPr>
                  <a:t>Nella trattazione ci concentreremo solo sulle forze di interazione tra pneumatico ed asfalto</a:t>
                </a:r>
              </a:p>
              <a:p>
                <a:endParaRPr lang="it-IT" sz="2000" dirty="0">
                  <a:latin typeface="Candara" panose="020E0502030303020204" pitchFamily="34" charset="0"/>
                </a:endParaRPr>
              </a:p>
              <a:p>
                <a:r>
                  <a:rPr lang="it-IT" sz="2000" dirty="0">
                    <a:latin typeface="Candara" panose="020E05020303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𝑥𝑓</m:t>
                        </m:r>
                      </m:sub>
                    </m:sSub>
                    <m:r>
                      <a:rPr lang="it-IT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20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𝑥𝑟</m:t>
                        </m:r>
                      </m:sub>
                    </m:sSub>
                  </m:oMath>
                </a14:m>
                <a:r>
                  <a:rPr lang="it-IT" sz="2000" dirty="0">
                    <a:latin typeface="Candara" panose="020E0502030303020204" pitchFamily="34" charset="0"/>
                  </a:rPr>
                  <a:t> sono le forze di interazione, esse però dipendono da vari parametri… </a:t>
                </a:r>
              </a:p>
              <a:p>
                <a:endParaRPr lang="it-IT" sz="2000" dirty="0">
                  <a:latin typeface="Candara" panose="020E0502030303020204" pitchFamily="34" charset="0"/>
                </a:endParaRPr>
              </a:p>
              <a:p>
                <a:pPr lvl="0"/>
                <a:r>
                  <a:rPr lang="it-IT" sz="2000" b="1" dirty="0">
                    <a:latin typeface="Candara" panose="020E0502030303020204" pitchFamily="34" charset="0"/>
                  </a:rPr>
                  <a:t>Slip ratio</a:t>
                </a:r>
                <a:r>
                  <a:rPr lang="it-IT" sz="2000" dirty="0">
                    <a:latin typeface="Candara" panose="020E0502030303020204" pitchFamily="34" charset="0"/>
                  </a:rPr>
                  <a:t>: è il rapporto tra velocità tangenziale e velocità angolare</a:t>
                </a:r>
              </a:p>
              <a:p>
                <a:pPr lvl="0"/>
                <a:endParaRPr lang="it-IT" sz="2000" dirty="0">
                  <a:latin typeface="Candara" panose="020E0502030303020204" pitchFamily="34" charset="0"/>
                </a:endParaRPr>
              </a:p>
              <a:p>
                <a:pPr lvl="0"/>
                <a:r>
                  <a:rPr lang="it-IT" sz="2000" b="1" dirty="0">
                    <a:latin typeface="Candara" panose="020E0502030303020204" pitchFamily="34" charset="0"/>
                  </a:rPr>
                  <a:t>Carico Normale dello pneumatico: </a:t>
                </a:r>
                <a:r>
                  <a:rPr lang="it-IT" sz="2000" dirty="0">
                    <a:latin typeface="Candara" panose="020E0502030303020204" pitchFamily="34" charset="0"/>
                  </a:rPr>
                  <a:t>è la forza verticale che agisce sulla </a:t>
                </a:r>
              </a:p>
              <a:p>
                <a:pPr lvl="0"/>
                <a:r>
                  <a:rPr lang="it-IT" sz="2000" dirty="0">
                    <a:latin typeface="Candara" panose="020E0502030303020204" pitchFamily="34" charset="0"/>
                  </a:rPr>
                  <a:t>superficie dello pneumatico e determina la quantità massima di forza di attrito che può essere generata.</a:t>
                </a:r>
              </a:p>
              <a:p>
                <a:pPr lvl="0"/>
                <a:endParaRPr lang="it-IT" sz="2000" dirty="0">
                  <a:latin typeface="Candara" panose="020E0502030303020204" pitchFamily="34" charset="0"/>
                </a:endParaRPr>
              </a:p>
              <a:p>
                <a:pPr lvl="0"/>
                <a:r>
                  <a:rPr lang="it-IT" sz="2000" b="1" dirty="0">
                    <a:latin typeface="Candara" panose="020E0502030303020204" pitchFamily="34" charset="0"/>
                  </a:rPr>
                  <a:t>Coefficiente d’attrito: </a:t>
                </a:r>
                <a:r>
                  <a:rPr lang="it-IT" sz="2000" dirty="0">
                    <a:latin typeface="Candara" panose="020E0502030303020204" pitchFamily="34" charset="0"/>
                  </a:rPr>
                  <a:t>il coefficiente d’attrito tra lo pneumatico e la strada.</a:t>
                </a:r>
              </a:p>
              <a:p>
                <a:pPr lvl="0"/>
                <a:endParaRPr lang="it-IT" sz="2000" dirty="0">
                  <a:latin typeface="Candara" panose="020E0502030303020204" pitchFamily="34" charset="0"/>
                </a:endParaRPr>
              </a:p>
              <a:p>
                <a:pPr lvl="0"/>
                <a:endParaRPr lang="it-IT" sz="2000" dirty="0">
                  <a:latin typeface="Candara" panose="020E0502030303020204" pitchFamily="34" charset="0"/>
                </a:endParaRPr>
              </a:p>
              <a:p>
                <a:pPr lvl="0"/>
                <a:r>
                  <a:rPr lang="it-IT" sz="2000" dirty="0">
                    <a:latin typeface="Candara" panose="020E0502030303020204" pitchFamily="34" charset="0"/>
                  </a:rPr>
                  <a:t>L’elaborato ruota attorno al concetto di slip ratio</a:t>
                </a:r>
              </a:p>
              <a:p>
                <a:endParaRPr lang="it-IT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B560737-4E40-41F4-A8FB-75F71EE2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29" y="356334"/>
                <a:ext cx="10332141" cy="4702826"/>
              </a:xfrm>
              <a:prstGeom prst="rect">
                <a:avLst/>
              </a:prstGeom>
              <a:blipFill>
                <a:blip r:embed="rId2"/>
                <a:stretch>
                  <a:fillRect l="-649" t="-6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C488961-680E-80B5-7BB5-3729FB129E22}"/>
                  </a:ext>
                </a:extLst>
              </p:cNvPr>
              <p:cNvSpPr txBox="1"/>
              <p:nvPr/>
            </p:nvSpPr>
            <p:spPr>
              <a:xfrm>
                <a:off x="3030794" y="5059160"/>
                <a:ext cx="6130412" cy="1475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pc="-1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it-IT" sz="1800" i="1" spc="-1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⋅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18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t-IT" sz="16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Slip ratio in frenata</a:t>
                </a:r>
              </a:p>
              <a:p>
                <a:pPr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it-IT" sz="1800" i="1" spc="-1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⋅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⋅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18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	</a:t>
                </a:r>
                <a:r>
                  <a:rPr lang="it-IT" sz="16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Slip ratio in accelerazione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C488961-680E-80B5-7BB5-3729FB129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794" y="5059160"/>
                <a:ext cx="6130412" cy="1475084"/>
              </a:xfrm>
              <a:prstGeom prst="rect">
                <a:avLst/>
              </a:prstGeom>
              <a:blipFill>
                <a:blip r:embed="rId3"/>
                <a:stretch>
                  <a:fillRect b="-4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052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3C7B9D3-C652-12AA-B46E-9F18741BF528}"/>
                  </a:ext>
                </a:extLst>
              </p:cNvPr>
              <p:cNvSpPr txBox="1"/>
              <p:nvPr/>
            </p:nvSpPr>
            <p:spPr>
              <a:xfrm>
                <a:off x="3244645" y="193576"/>
                <a:ext cx="5702710" cy="549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it-IT" sz="2000" spc="-10" dirty="0"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Come sono collegate le forze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𝑥𝑓</m:t>
                        </m:r>
                      </m:sub>
                    </m:sSub>
                    <m:r>
                      <a:rPr lang="it-IT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2000">
                        <a:latin typeface="Cambria Math" panose="02040503050406030204" pitchFamily="18" charset="0"/>
                      </a:rPr>
                      <m:t>e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𝑥𝑟</m:t>
                        </m:r>
                      </m:sub>
                    </m:sSub>
                  </m:oMath>
                </a14:m>
                <a:r>
                  <a:rPr lang="it-IT" sz="2000" spc="-10" dirty="0"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e lo Slip ratio </a:t>
                </a:r>
                <a:endParaRPr lang="it-IT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3C7B9D3-C652-12AA-B46E-9F18741BF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45" y="193576"/>
                <a:ext cx="5702710" cy="549381"/>
              </a:xfrm>
              <a:prstGeom prst="rect">
                <a:avLst/>
              </a:prstGeom>
              <a:blipFill>
                <a:blip r:embed="rId2"/>
                <a:stretch>
                  <a:fillRect l="-1068" r="-128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diagramma, test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E2047FD-7EF5-4CE9-70BC-C853E416A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990" y="851112"/>
            <a:ext cx="7556020" cy="5737284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7B9B6FF-15CE-6119-06EB-C78095FC1D94}"/>
              </a:ext>
            </a:extLst>
          </p:cNvPr>
          <p:cNvCxnSpPr>
            <a:cxnSpLocks/>
          </p:cNvCxnSpPr>
          <p:nvPr/>
        </p:nvCxnSpPr>
        <p:spPr>
          <a:xfrm>
            <a:off x="5515898" y="3760839"/>
            <a:ext cx="0" cy="186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6B8665A-6BF9-1A43-0467-395D78FCF179}"/>
              </a:ext>
            </a:extLst>
          </p:cNvPr>
          <p:cNvCxnSpPr>
            <a:cxnSpLocks/>
          </p:cNvCxnSpPr>
          <p:nvPr/>
        </p:nvCxnSpPr>
        <p:spPr>
          <a:xfrm flipV="1">
            <a:off x="7118555" y="1465006"/>
            <a:ext cx="0" cy="172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1D5570F-3E4D-A244-FA59-0E0579D547D1}"/>
              </a:ext>
            </a:extLst>
          </p:cNvPr>
          <p:cNvSpPr txBox="1"/>
          <p:nvPr/>
        </p:nvSpPr>
        <p:spPr>
          <a:xfrm>
            <a:off x="4934646" y="3299174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  <a:latin typeface="Candara" panose="020E0502030303020204" pitchFamily="34" charset="0"/>
              </a:rPr>
              <a:t>Massima forza </a:t>
            </a:r>
          </a:p>
          <a:p>
            <a:r>
              <a:rPr lang="it-IT" sz="1200" dirty="0">
                <a:solidFill>
                  <a:schemeClr val="bg1"/>
                </a:solidFill>
                <a:latin typeface="Candara" panose="020E0502030303020204" pitchFamily="34" charset="0"/>
              </a:rPr>
              <a:t>frenante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EA4AE7D-1013-6239-CBDD-D2802996A617}"/>
              </a:ext>
            </a:extLst>
          </p:cNvPr>
          <p:cNvSpPr txBox="1"/>
          <p:nvPr/>
        </p:nvSpPr>
        <p:spPr>
          <a:xfrm>
            <a:off x="6705602" y="3299174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  <a:latin typeface="Candara" panose="020E0502030303020204" pitchFamily="34" charset="0"/>
              </a:rPr>
              <a:t>Massima forza </a:t>
            </a:r>
          </a:p>
          <a:p>
            <a:r>
              <a:rPr lang="it-IT" sz="1200" dirty="0">
                <a:solidFill>
                  <a:schemeClr val="bg1"/>
                </a:solidFill>
                <a:latin typeface="Candara" panose="020E0502030303020204" pitchFamily="34" charset="0"/>
              </a:rPr>
              <a:t>di trazione</a:t>
            </a:r>
          </a:p>
        </p:txBody>
      </p:sp>
    </p:spTree>
    <p:extLst>
      <p:ext uri="{BB962C8B-B14F-4D97-AF65-F5344CB8AC3E}">
        <p14:creationId xmlns:p14="http://schemas.microsoft.com/office/powerpoint/2010/main" val="140629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9" name="Picture 11" descr="Immagine che contiene ingranaggio, oggetti in metallo, Ricambio auto&#10;&#10;Il contenuto generato dall'IA potrebbe non essere corretto.">
            <a:extLst>
              <a:ext uri="{FF2B5EF4-FFF2-40B4-BE49-F238E27FC236}">
                <a16:creationId xmlns:a16="http://schemas.microsoft.com/office/drawing/2014/main" id="{0CD6DB45-39BA-2CB6-8397-F2BE5E08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53613"/>
            <a:ext cx="2654300" cy="184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D35F1350-89A7-80D1-9F4B-48617F43A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12459" y="1253836"/>
            <a:ext cx="1025525" cy="183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Immagine 1" descr="Immagine che contiene diagramma, linea, design&#10;&#10;Il contenuto generato dall'IA potrebbe non essere corretto.">
            <a:extLst>
              <a:ext uri="{FF2B5EF4-FFF2-40B4-BE49-F238E27FC236}">
                <a16:creationId xmlns:a16="http://schemas.microsoft.com/office/drawing/2014/main" id="{5A9FA178-D827-8734-F2C1-56E88AE31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56" y="1548426"/>
            <a:ext cx="2552700" cy="116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3040BBD4-F624-787A-0425-9D751F05A945}"/>
              </a:ext>
            </a:extLst>
          </p:cNvPr>
          <p:cNvSpPr/>
          <p:nvPr/>
        </p:nvSpPr>
        <p:spPr>
          <a:xfrm>
            <a:off x="5607050" y="1800005"/>
            <a:ext cx="977900" cy="48450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it-IT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6D5D200-28AF-C665-C144-9EA11A8C1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483" y="5309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028002C-9CDB-3F81-73E7-178C2EA33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483" y="9881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60520F-081C-8853-B773-800158DFE1DC}"/>
              </a:ext>
            </a:extLst>
          </p:cNvPr>
          <p:cNvSpPr txBox="1"/>
          <p:nvPr/>
        </p:nvSpPr>
        <p:spPr>
          <a:xfrm>
            <a:off x="668594" y="435087"/>
            <a:ext cx="4709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ndara" panose="020E0502030303020204" pitchFamily="34" charset="0"/>
              </a:rPr>
              <a:t>Dati della velocità angolare: Sensore WSS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C7A0D77-6BD9-BF1E-6214-80CD23768B92}"/>
              </a:ext>
            </a:extLst>
          </p:cNvPr>
          <p:cNvSpPr txBox="1"/>
          <p:nvPr/>
        </p:nvSpPr>
        <p:spPr>
          <a:xfrm>
            <a:off x="668594" y="3449374"/>
            <a:ext cx="6179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ndara" panose="020E0502030303020204" pitchFamily="34" charset="0"/>
              </a:rPr>
              <a:t>Sistema per ottenere la velocità di rotazione della ruota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72DAE2F-DB4B-6BB1-7687-A252315C6186}"/>
              </a:ext>
            </a:extLst>
          </p:cNvPr>
          <p:cNvSpPr txBox="1"/>
          <p:nvPr/>
        </p:nvSpPr>
        <p:spPr>
          <a:xfrm>
            <a:off x="637005" y="4000250"/>
            <a:ext cx="70182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ndara" panose="020E0502030303020204" pitchFamily="34" charset="0"/>
              </a:rPr>
              <a:t>Dati della velocità lineare: Accelerometri, GPS, fotocellule </a:t>
            </a:r>
            <a:r>
              <a:rPr lang="it-IT" sz="2000" dirty="0" err="1">
                <a:latin typeface="Candara" panose="020E0502030303020204" pitchFamily="34" charset="0"/>
              </a:rPr>
              <a:t>etc</a:t>
            </a:r>
            <a:r>
              <a:rPr lang="it-IT" sz="2000" dirty="0">
                <a:latin typeface="Candara" panose="020E0502030303020204" pitchFamily="34" charset="0"/>
              </a:rPr>
              <a:t>…</a:t>
            </a:r>
          </a:p>
          <a:p>
            <a:endParaRPr lang="it-IT" sz="2000" dirty="0">
              <a:latin typeface="Candara" panose="020E0502030303020204" pitchFamily="34" charset="0"/>
            </a:endParaRPr>
          </a:p>
          <a:p>
            <a:r>
              <a:rPr lang="it-IT" sz="2000" dirty="0">
                <a:latin typeface="Candara" panose="020E0502030303020204" pitchFamily="34" charset="0"/>
              </a:rPr>
              <a:t>Entrambi questi dati servono per calcolare lo slip ratio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D8D487D-E5A5-81D8-C1E7-0B62566A11DB}"/>
                  </a:ext>
                </a:extLst>
              </p:cNvPr>
              <p:cNvSpPr txBox="1"/>
              <p:nvPr/>
            </p:nvSpPr>
            <p:spPr>
              <a:xfrm>
                <a:off x="2089150" y="5327828"/>
                <a:ext cx="8835717" cy="805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pc="-1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it-IT" sz="1800" i="1" spc="-1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⋅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18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t-IT" sz="16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Slip ratio in frenata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it-IT" sz="1800" i="1" spc="-1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⋅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it-IT" sz="1800" i="1" spc="-1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⋅</m:t>
                        </m:r>
                        <m:sSub>
                          <m:sSubPr>
                            <m:ctrlP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1800" i="1" spc="-1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18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	</a:t>
                </a:r>
                <a:r>
                  <a:rPr lang="it-IT" sz="1600" spc="-10" dirty="0">
                    <a:solidFill>
                      <a:schemeClr val="tx1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Slip ratio in accelerazione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D8D487D-E5A5-81D8-C1E7-0B62566A1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150" y="5327828"/>
                <a:ext cx="8835717" cy="805926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26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00DD672-0EB2-B6E0-0C73-2703BAB86B10}"/>
              </a:ext>
            </a:extLst>
          </p:cNvPr>
          <p:cNvSpPr txBox="1"/>
          <p:nvPr/>
        </p:nvSpPr>
        <p:spPr>
          <a:xfrm>
            <a:off x="1301097" y="443738"/>
            <a:ext cx="9573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ECU: Engine Control Unit</a:t>
            </a:r>
          </a:p>
          <a:p>
            <a:r>
              <a:rPr lang="it-IT" dirty="0"/>
              <a:t>Controlla tutte le funzioni elettroniche del veicolo, al giorno d’oggi controlla letteralmente tutto.</a:t>
            </a:r>
          </a:p>
          <a:p>
            <a:r>
              <a:rPr lang="it-IT" dirty="0"/>
              <a:t>È il cervello elettronico del veicolo</a:t>
            </a:r>
          </a:p>
        </p:txBody>
      </p:sp>
      <p:pic>
        <p:nvPicPr>
          <p:cNvPr id="4" name="Immagine 3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367205F9-4C5A-27C5-ED6F-A6C9D0C0D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672" y="1556089"/>
            <a:ext cx="7386654" cy="415499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0B3870D-2040-F5E7-647C-C19E806380E4}"/>
              </a:ext>
            </a:extLst>
          </p:cNvPr>
          <p:cNvSpPr txBox="1"/>
          <p:nvPr/>
        </p:nvSpPr>
        <p:spPr>
          <a:xfrm>
            <a:off x="4843574" y="4745886"/>
            <a:ext cx="24882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Rete di sensori che raccoglie dati che saranno processati dalla ECU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9153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714715E-2A73-3E8D-2ED7-8644DE19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3" y="4908483"/>
            <a:ext cx="9262174" cy="1390717"/>
          </a:xfrm>
          <a:prstGeom prst="rect">
            <a:avLst/>
          </a:prstGeom>
        </p:spPr>
      </p:pic>
      <p:pic>
        <p:nvPicPr>
          <p:cNvPr id="4" name="Immagine 3" descr="Immagine che contiene schermata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A0869216-2BDB-5B13-ADE3-F9344549F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15" y="558800"/>
            <a:ext cx="5234972" cy="719533"/>
          </a:xfrm>
          <a:prstGeom prst="rect">
            <a:avLst/>
          </a:prstGeom>
        </p:spPr>
      </p:pic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6139617-3153-1424-D8D5-CA1D02B4F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13" y="558800"/>
            <a:ext cx="6338570" cy="382143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74A359B-6E4C-6D83-7EA7-00C6EB1203B1}"/>
              </a:ext>
            </a:extLst>
          </p:cNvPr>
          <p:cNvSpPr txBox="1"/>
          <p:nvPr/>
        </p:nvSpPr>
        <p:spPr>
          <a:xfrm>
            <a:off x="6901543" y="1719943"/>
            <a:ext cx="50193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la velocità angolare abbiamo dovuto effettuare la misura vera e propria.</a:t>
            </a:r>
          </a:p>
          <a:p>
            <a:endParaRPr lang="it-IT" dirty="0"/>
          </a:p>
          <a:p>
            <a:r>
              <a:rPr lang="it-IT" dirty="0"/>
              <a:t>Per la velocità lineare prendiamo il valore letto da un ipotetico sensore senza specificare in che modo la misura venisse fatta.</a:t>
            </a:r>
          </a:p>
          <a:p>
            <a:endParaRPr lang="it-IT" dirty="0"/>
          </a:p>
          <a:p>
            <a:r>
              <a:rPr lang="it-IT" dirty="0"/>
              <a:t>Nella funzione loop avviene il calcolo dei due slip ratio.</a:t>
            </a:r>
          </a:p>
        </p:txBody>
      </p:sp>
    </p:spTree>
    <p:extLst>
      <p:ext uri="{BB962C8B-B14F-4D97-AF65-F5344CB8AC3E}">
        <p14:creationId xmlns:p14="http://schemas.microsoft.com/office/powerpoint/2010/main" val="1818185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E9A700-0789-DD17-7C77-AE454195BB98}"/>
              </a:ext>
            </a:extLst>
          </p:cNvPr>
          <p:cNvSpPr txBox="1"/>
          <p:nvPr/>
        </p:nvSpPr>
        <p:spPr>
          <a:xfrm>
            <a:off x="3105584" y="375515"/>
            <a:ext cx="4892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ndara" panose="020E0502030303020204" pitchFamily="34" charset="0"/>
              </a:rPr>
              <a:t>Cosa succede se c’è una perdita di trazione?</a:t>
            </a:r>
          </a:p>
        </p:txBody>
      </p:sp>
      <p:pic>
        <p:nvPicPr>
          <p:cNvPr id="3" name="Immagine 2" descr="Immagine che contiene testo, Carattere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5640AA1B-6C2B-105B-F741-8AA9EE3D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77" y="1104438"/>
            <a:ext cx="4010025" cy="1266825"/>
          </a:xfrm>
          <a:prstGeom prst="rect">
            <a:avLst/>
          </a:prstGeom>
        </p:spPr>
      </p:pic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1D163F8-AF4F-F8BE-35C7-4D6B47AA2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928" y="1104438"/>
            <a:ext cx="6338570" cy="154290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C3066F-42F0-96F4-F4AC-3DB1194415BB}"/>
              </a:ext>
            </a:extLst>
          </p:cNvPr>
          <p:cNvSpPr txBox="1"/>
          <p:nvPr/>
        </p:nvSpPr>
        <p:spPr>
          <a:xfrm>
            <a:off x="3023030" y="3429000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ndara" panose="020E0502030303020204" pitchFamily="34" charset="0"/>
              </a:rPr>
              <a:t>Cosa succede se c’è un bloccaggio in frenata?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960F5F3-75A2-7FAB-6639-F7C038E8F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1" y="4299526"/>
            <a:ext cx="4150621" cy="1378006"/>
          </a:xfrm>
          <a:prstGeom prst="rect">
            <a:avLst/>
          </a:prstGeom>
        </p:spPr>
      </p:pic>
      <p:pic>
        <p:nvPicPr>
          <p:cNvPr id="12" name="Immagine 11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18D8864E-FA53-325D-D1DF-AD48FA844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928" y="4299526"/>
            <a:ext cx="6338570" cy="155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66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AA99624-59EE-B07B-B7F2-25E2C39D426A}"/>
              </a:ext>
            </a:extLst>
          </p:cNvPr>
          <p:cNvSpPr txBox="1"/>
          <p:nvPr/>
        </p:nvSpPr>
        <p:spPr>
          <a:xfrm>
            <a:off x="3372464" y="491654"/>
            <a:ext cx="5447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spc="-1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LOGICA DEL SISTEMA</a:t>
            </a:r>
            <a:endParaRPr lang="it-IT" sz="3600" spc="-10" dirty="0">
              <a:effectLst/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B6AEA34-2C40-801A-2917-D44D0160AC6E}"/>
              </a:ext>
            </a:extLst>
          </p:cNvPr>
          <p:cNvSpPr txBox="1"/>
          <p:nvPr/>
        </p:nvSpPr>
        <p:spPr>
          <a:xfrm>
            <a:off x="470926" y="1399242"/>
            <a:ext cx="11378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ndara" panose="020E0502030303020204" pitchFamily="34" charset="0"/>
              </a:rPr>
              <a:t>Per testare le logiche del sistema su </a:t>
            </a:r>
            <a:r>
              <a:rPr lang="it-IT" sz="2000" dirty="0" err="1">
                <a:latin typeface="Candara" panose="020E0502030303020204" pitchFamily="34" charset="0"/>
              </a:rPr>
              <a:t>matlab</a:t>
            </a:r>
            <a:r>
              <a:rPr lang="it-IT" sz="2000" dirty="0">
                <a:latin typeface="Candara" panose="020E0502030303020204" pitchFamily="34" charset="0"/>
              </a:rPr>
              <a:t> abbiamo utilizzato delle funzioni matematiche che simulano</a:t>
            </a:r>
          </a:p>
          <a:p>
            <a:r>
              <a:rPr lang="it-IT" sz="2000" dirty="0">
                <a:latin typeface="Candara" panose="020E0502030303020204" pitchFamily="34" charset="0"/>
              </a:rPr>
              <a:t>l’andamento degli input dell’acceleratore e del freno, dello slip ratio in accelerazione e frenata.   </a:t>
            </a:r>
          </a:p>
        </p:txBody>
      </p:sp>
      <p:pic>
        <p:nvPicPr>
          <p:cNvPr id="4" name="Immagine 3" descr="Immagine che contiene testo, Carattere, Elementi grafici, tipografia&#10;&#10;Il contenuto generato dall'IA potrebbe non essere corretto.">
            <a:extLst>
              <a:ext uri="{FF2B5EF4-FFF2-40B4-BE49-F238E27FC236}">
                <a16:creationId xmlns:a16="http://schemas.microsoft.com/office/drawing/2014/main" id="{494A5F17-C01A-9CB4-3266-93A6DB136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80" y="3059360"/>
            <a:ext cx="3505200" cy="50482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905128D-FB05-E5D7-6758-FE6C0E8C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80" y="4906308"/>
            <a:ext cx="5258435" cy="1104900"/>
          </a:xfrm>
          <a:prstGeom prst="rect">
            <a:avLst/>
          </a:prstGeom>
        </p:spPr>
      </p:pic>
      <p:pic>
        <p:nvPicPr>
          <p:cNvPr id="8" name="Immagine 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920016D1-BEC9-8296-E06A-CE6735345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250" y="3059360"/>
            <a:ext cx="6338570" cy="89471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18471E-B8C7-A48F-6801-0D29AAB48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250" y="4885749"/>
            <a:ext cx="6258560" cy="89535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625D33-F0AC-56BB-4C87-5E6B30528088}"/>
              </a:ext>
            </a:extLst>
          </p:cNvPr>
          <p:cNvSpPr txBox="1"/>
          <p:nvPr/>
        </p:nvSpPr>
        <p:spPr>
          <a:xfrm>
            <a:off x="258393" y="2569029"/>
            <a:ext cx="11378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Accelerazione 				                Slip ratio Accelerazione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894426E-69FF-0129-BCE0-D982115D044F}"/>
              </a:ext>
            </a:extLst>
          </p:cNvPr>
          <p:cNvSpPr txBox="1"/>
          <p:nvPr/>
        </p:nvSpPr>
        <p:spPr>
          <a:xfrm>
            <a:off x="258393" y="4516417"/>
            <a:ext cx="11378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Frenata					                Slip ratio Frenata</a:t>
            </a:r>
          </a:p>
        </p:txBody>
      </p:sp>
    </p:spTree>
    <p:extLst>
      <p:ext uri="{BB962C8B-B14F-4D97-AF65-F5344CB8AC3E}">
        <p14:creationId xmlns:p14="http://schemas.microsoft.com/office/powerpoint/2010/main" val="4228303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magine che contiene schermat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CE4FB5B8-293F-4149-B83A-1E8D7749C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74150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magine 1">
            <a:extLst>
              <a:ext uri="{FF2B5EF4-FFF2-40B4-BE49-F238E27FC236}">
                <a16:creationId xmlns:a16="http://schemas.microsoft.com/office/drawing/2014/main" id="{C6F9B788-925A-C048-6FFA-B98968E29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1" y="3431314"/>
            <a:ext cx="7252879" cy="342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C37B084E-2066-B822-C800-FBB73D59D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8433A71-A4BC-FDAF-22C2-D01178D4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05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63C85C5-4E2F-9F0B-27DA-BC00AFA01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3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032AEF-CF70-B3CF-5517-739F735396B8}"/>
              </a:ext>
            </a:extLst>
          </p:cNvPr>
          <p:cNvSpPr txBox="1"/>
          <p:nvPr/>
        </p:nvSpPr>
        <p:spPr>
          <a:xfrm>
            <a:off x="7274150" y="272534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TC = 2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97257ED-4EB2-6525-962E-441C91DB1804}"/>
              </a:ext>
            </a:extLst>
          </p:cNvPr>
          <p:cNvSpPr txBox="1"/>
          <p:nvPr/>
        </p:nvSpPr>
        <p:spPr>
          <a:xfrm>
            <a:off x="7274150" y="3689865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TC = 9</a:t>
            </a:r>
          </a:p>
        </p:txBody>
      </p:sp>
    </p:spTree>
    <p:extLst>
      <p:ext uri="{BB962C8B-B14F-4D97-AF65-F5344CB8AC3E}">
        <p14:creationId xmlns:p14="http://schemas.microsoft.com/office/powerpoint/2010/main" val="126265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magine 3">
            <a:extLst>
              <a:ext uri="{FF2B5EF4-FFF2-40B4-BE49-F238E27FC236}">
                <a16:creationId xmlns:a16="http://schemas.microsoft.com/office/drawing/2014/main" id="{D5D495EE-E4AF-9450-259F-8554B8EFF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739094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magine 4">
            <a:extLst>
              <a:ext uri="{FF2B5EF4-FFF2-40B4-BE49-F238E27FC236}">
                <a16:creationId xmlns:a16="http://schemas.microsoft.com/office/drawing/2014/main" id="{00653975-398D-51A3-A8DF-5AE1EE942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739094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B1A0D765-736D-E8DC-4903-5A6867B25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F06A345-4D70-BF4F-40BF-748BD697C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988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2388B8-1F19-F265-7A8C-D68B4C460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8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A179515-E082-8087-2B74-A478F6213AA5}"/>
              </a:ext>
            </a:extLst>
          </p:cNvPr>
          <p:cNvSpPr txBox="1"/>
          <p:nvPr/>
        </p:nvSpPr>
        <p:spPr>
          <a:xfrm>
            <a:off x="7390945" y="108507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ABS = 2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359B45-0826-109D-21EF-C857B0871C5E}"/>
              </a:ext>
            </a:extLst>
          </p:cNvPr>
          <p:cNvSpPr txBox="1"/>
          <p:nvPr/>
        </p:nvSpPr>
        <p:spPr>
          <a:xfrm>
            <a:off x="7390945" y="3468966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ABS = 6</a:t>
            </a:r>
          </a:p>
        </p:txBody>
      </p:sp>
    </p:spTree>
    <p:extLst>
      <p:ext uri="{BB962C8B-B14F-4D97-AF65-F5344CB8AC3E}">
        <p14:creationId xmlns:p14="http://schemas.microsoft.com/office/powerpoint/2010/main" val="4084762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DA07C33-04C4-C8A7-96C0-65E44E1D8C6D}"/>
              </a:ext>
            </a:extLst>
          </p:cNvPr>
          <p:cNvSpPr txBox="1"/>
          <p:nvPr/>
        </p:nvSpPr>
        <p:spPr>
          <a:xfrm>
            <a:off x="670411" y="432660"/>
            <a:ext cx="10784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spc="-1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SVILUPPI FUTURI DEL SISTEMA E POSSIBILI MIGLIORIE</a:t>
            </a:r>
            <a:endParaRPr lang="it-IT" sz="3600" spc="-10" dirty="0">
              <a:effectLst/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16C92E-57FF-6B2C-171C-00028FE2627B}"/>
              </a:ext>
            </a:extLst>
          </p:cNvPr>
          <p:cNvSpPr txBox="1"/>
          <p:nvPr/>
        </p:nvSpPr>
        <p:spPr>
          <a:xfrm>
            <a:off x="631082" y="2613392"/>
            <a:ext cx="678596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it-IT" sz="2000" dirty="0"/>
              <a:t>Simulazioni con input generati da sensori </a:t>
            </a:r>
          </a:p>
          <a:p>
            <a:pPr marL="342900" indent="-342900">
              <a:buAutoNum type="arabicPeriod"/>
            </a:pPr>
            <a:endParaRPr lang="it-IT" sz="2000" dirty="0"/>
          </a:p>
          <a:p>
            <a:pPr marL="342900" indent="-342900">
              <a:buAutoNum type="arabicPeriod"/>
            </a:pPr>
            <a:r>
              <a:rPr lang="it-IT" sz="2000" dirty="0"/>
              <a:t>Installazione su auto da corsa per la raccolta di dati reali </a:t>
            </a:r>
          </a:p>
          <a:p>
            <a:pPr marL="342900" indent="-342900">
              <a:buAutoNum type="arabicPeriod"/>
            </a:pPr>
            <a:endParaRPr lang="it-IT" sz="2000" dirty="0"/>
          </a:p>
          <a:p>
            <a:pPr marL="342900" indent="-342900">
              <a:buAutoNum type="arabicPeriod"/>
            </a:pPr>
            <a:r>
              <a:rPr lang="it-IT" sz="2000" dirty="0"/>
              <a:t>Ridefinizione più efficace delle costanti di taglio </a:t>
            </a:r>
          </a:p>
        </p:txBody>
      </p:sp>
    </p:spTree>
    <p:extLst>
      <p:ext uri="{BB962C8B-B14F-4D97-AF65-F5344CB8AC3E}">
        <p14:creationId xmlns:p14="http://schemas.microsoft.com/office/powerpoint/2010/main" val="2070921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3DBC209-4949-7F4E-96A5-54A80B790CBB}"/>
              </a:ext>
            </a:extLst>
          </p:cNvPr>
          <p:cNvSpPr txBox="1"/>
          <p:nvPr/>
        </p:nvSpPr>
        <p:spPr>
          <a:xfrm>
            <a:off x="3728884" y="3105834"/>
            <a:ext cx="4734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latin typeface="Candara" panose="020E0502030303020204" pitchFamily="34" charset="0"/>
              </a:rPr>
              <a:t>Grazie per l’attenzione!</a:t>
            </a:r>
          </a:p>
        </p:txBody>
      </p:sp>
    </p:spTree>
    <p:extLst>
      <p:ext uri="{BB962C8B-B14F-4D97-AF65-F5344CB8AC3E}">
        <p14:creationId xmlns:p14="http://schemas.microsoft.com/office/powerpoint/2010/main" val="4653644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807</Words>
  <Application>Microsoft Office PowerPoint</Application>
  <PresentationFormat>Widescreen</PresentationFormat>
  <Paragraphs>106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Candara</vt:lpstr>
      <vt:lpstr>Garamond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D'ANGIOLELLA</dc:creator>
  <cp:lastModifiedBy>ANTONIO D'ANGIOLELLA</cp:lastModifiedBy>
  <cp:revision>25</cp:revision>
  <dcterms:created xsi:type="dcterms:W3CDTF">2025-11-24T11:18:18Z</dcterms:created>
  <dcterms:modified xsi:type="dcterms:W3CDTF">2025-12-05T19:14:53Z</dcterms:modified>
</cp:coreProperties>
</file>